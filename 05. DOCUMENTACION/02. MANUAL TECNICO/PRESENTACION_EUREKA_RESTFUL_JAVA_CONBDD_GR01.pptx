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b000ba60-eb1c-3036-e277-61a7c57165f9}">
          <p14:sldIdLst>
            <p14:sldId id="256"/>
            <p14:sldId id="257"/>
          </p14:sldIdLst>
        </p14:section>
        <p14:section name="Solución" id="{2d88c969-7084-12fc-3563-48130ab02bfc}">
          <p14:sldIdLst>
            <p14:sldId id="258"/>
            <p14:sldId id="259"/>
            <p14:sldId id="260"/>
          </p14:sldIdLst>
        </p14:section>
        <p14:section name="Servidor" id="{7694c3f5-a525-38a7-3f03-05711d846511}">
          <p14:sldIdLst>
            <p14:sldId id="261"/>
            <p14:sldId id="262"/>
            <p14:sldId id="263"/>
            <p14:sldId id="264"/>
          </p14:sldIdLst>
        </p14:section>
        <p14:section name="Clientes" id="{dcb70b18-eea6-fa0e-dbd0-d22385528a2f}">
          <p14:sldIdLst>
            <p14:sldId id="265"/>
            <p14:sldId id="266"/>
            <p14:sldId id="267"/>
            <p14:sldId id="268"/>
          </p14:sldIdLst>
        </p14:section>
        <p14:section name="Cierre" id="{b68a0b33-a8b1-bfe6-5c05-4dd62a5ca702}">
          <p14:sldIdLst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Grupo 1 · NRC 36841 · EurekaBank Monster · RESTful Java + MariaDB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jeta_1"/>
          <p:cNvSpPr/>
          <p:nvPr/>
        </p:nvSpPr>
        <p:spPr>
          <a:xfrm>
            <a:off x="685800" y="1234440"/>
            <a:ext cx="4114800" cy="4389120"/>
          </a:xfrm>
          <a:prstGeom prst="roundRect">
            <a:avLst>
              <a:gd name="adj" fmla="val 3333"/>
            </a:avLst>
          </a:prstGeom>
          <a:solidFill>
            <a:srgbClr val="1A2B4B"/>
          </a:solidFill>
          <a:ln w="381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" name="monster_portada" descr="Monst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371600"/>
            <a:ext cx="3840480" cy="4114800"/>
          </a:xfrm>
          <a:prstGeom prst="rect">
            <a:avLst/>
          </a:prstGeom>
        </p:spPr>
      </p:pic>
      <p:sp>
        <p:nvSpPr>
          <p:cNvPr id="4" name="texto_2"/>
          <p:cNvSpPr txBox="1"/>
          <p:nvPr/>
        </p:nvSpPr>
        <p:spPr>
          <a:xfrm>
            <a:off x="5303520" y="731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UNIVERSIDAD DE LAS FUERZAS ARMADAS – ESPE · ARQUITECTURA DE SOFTWARE</a:t>
            </a:r>
            <a:endParaRPr lang="en-US" sz="1200" dirty="0"/>
          </a:p>
        </p:txBody>
      </p:sp>
      <p:sp>
        <p:nvSpPr>
          <p:cNvPr id="5" name="texto_3"/>
          <p:cNvSpPr txBox="1"/>
          <p:nvPr/>
        </p:nvSpPr>
        <p:spPr>
          <a:xfrm>
            <a:off x="5303520" y="12801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EurekaBank Monster</a:t>
            </a:r>
            <a:endParaRPr lang="en-US" sz="4800" dirty="0"/>
          </a:p>
        </p:txBody>
      </p:sp>
      <p:sp>
        <p:nvSpPr>
          <p:cNvPr id="6" name="texto_4"/>
          <p:cNvSpPr txBox="1"/>
          <p:nvPr/>
        </p:nvSpPr>
        <p:spPr>
          <a:xfrm>
            <a:off x="5303520" y="237744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Servicio web RESTful en Java con base de datos MariaDB y clientes de consola, escritorio, web y móvil</a:t>
            </a:r>
            <a:endParaRPr lang="en-US" sz="1800" dirty="0"/>
          </a:p>
        </p:txBody>
      </p:sp>
      <p:sp>
        <p:nvSpPr>
          <p:cNvPr id="7" name="texto_5"/>
          <p:cNvSpPr txBox="1"/>
          <p:nvPr/>
        </p:nvSpPr>
        <p:spPr>
          <a:xfrm>
            <a:off x="5303520" y="38404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Grupo 1 · NRC 36841 · PAO202651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Benalcázar Moisés · Buestán Wilmer · Masapanta Jefferson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Tutor: Ing. Eduardo Mauricio Campaña Ortega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4 de noviembre de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Contenido</a:t>
            </a:r>
            <a:endParaRPr lang="en-US" sz="3200" dirty="0"/>
          </a:p>
        </p:txBody>
      </p:sp>
      <p:sp>
        <p:nvSpPr>
          <p:cNvPr id="3" name="tarjeta_6"/>
          <p:cNvSpPr/>
          <p:nvPr/>
        </p:nvSpPr>
        <p:spPr>
          <a:xfrm>
            <a:off x="731520" y="1463040"/>
            <a:ext cx="5212080" cy="123444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circulo_7"/>
          <p:cNvSpPr/>
          <p:nvPr/>
        </p:nvSpPr>
        <p:spPr>
          <a:xfrm>
            <a:off x="1005840" y="17647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cono_8"/>
          <p:cNvSpPr txBox="1"/>
          <p:nvPr/>
        </p:nvSpPr>
        <p:spPr>
          <a:xfrm>
            <a:off x="1005840" y="1764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o_9"/>
          <p:cNvSpPr txBox="1"/>
          <p:nvPr/>
        </p:nvSpPr>
        <p:spPr>
          <a:xfrm>
            <a:off x="1874520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Problema y solución SOA</a:t>
            </a:r>
            <a:endParaRPr lang="en-US" sz="2000" dirty="0"/>
          </a:p>
        </p:txBody>
      </p:sp>
      <p:sp>
        <p:nvSpPr>
          <p:cNvPr id="7" name="tarjeta_10"/>
          <p:cNvSpPr/>
          <p:nvPr/>
        </p:nvSpPr>
        <p:spPr>
          <a:xfrm>
            <a:off x="6309360" y="1463040"/>
            <a:ext cx="5212080" cy="123444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circulo_11"/>
          <p:cNvSpPr/>
          <p:nvPr/>
        </p:nvSpPr>
        <p:spPr>
          <a:xfrm>
            <a:off x="6583680" y="1764792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icono_12"/>
          <p:cNvSpPr txBox="1"/>
          <p:nvPr/>
        </p:nvSpPr>
        <p:spPr>
          <a:xfrm>
            <a:off x="6583680" y="1764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o_13"/>
          <p:cNvSpPr txBox="1"/>
          <p:nvPr/>
        </p:nvSpPr>
        <p:spPr>
          <a:xfrm>
            <a:off x="7452360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Arquitectura y base de datos</a:t>
            </a:r>
            <a:endParaRPr lang="en-US" sz="2000" dirty="0"/>
          </a:p>
        </p:txBody>
      </p:sp>
      <p:sp>
        <p:nvSpPr>
          <p:cNvPr id="11" name="tarjeta_14"/>
          <p:cNvSpPr/>
          <p:nvPr/>
        </p:nvSpPr>
        <p:spPr>
          <a:xfrm>
            <a:off x="731520" y="3017520"/>
            <a:ext cx="5212080" cy="123444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circulo_15"/>
          <p:cNvSpPr/>
          <p:nvPr/>
        </p:nvSpPr>
        <p:spPr>
          <a:xfrm>
            <a:off x="1005840" y="3319272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icono_16"/>
          <p:cNvSpPr txBox="1"/>
          <p:nvPr/>
        </p:nvSpPr>
        <p:spPr>
          <a:xfrm>
            <a:off x="1005840" y="3319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o_17"/>
          <p:cNvSpPr txBox="1"/>
          <p:nvPr/>
        </p:nvSpPr>
        <p:spPr>
          <a:xfrm>
            <a:off x="1874520" y="3337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Conexión Singleton y DAO</a:t>
            </a:r>
            <a:endParaRPr lang="en-US" sz="2000" dirty="0"/>
          </a:p>
        </p:txBody>
      </p:sp>
      <p:sp>
        <p:nvSpPr>
          <p:cNvPr id="15" name="tarjeta_18"/>
          <p:cNvSpPr/>
          <p:nvPr/>
        </p:nvSpPr>
        <p:spPr>
          <a:xfrm>
            <a:off x="6309360" y="3017520"/>
            <a:ext cx="5212080" cy="123444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circulo_19"/>
          <p:cNvSpPr/>
          <p:nvPr/>
        </p:nvSpPr>
        <p:spPr>
          <a:xfrm>
            <a:off x="6583680" y="3319272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icono_20"/>
          <p:cNvSpPr txBox="1"/>
          <p:nvPr/>
        </p:nvSpPr>
        <p:spPr>
          <a:xfrm>
            <a:off x="6583680" y="3319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o_21"/>
          <p:cNvSpPr txBox="1"/>
          <p:nvPr/>
        </p:nvSpPr>
        <p:spPr>
          <a:xfrm>
            <a:off x="7452360" y="3337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Operaciones transaccionales</a:t>
            </a:r>
            <a:endParaRPr lang="en-US" sz="2000" dirty="0"/>
          </a:p>
        </p:txBody>
      </p:sp>
      <p:sp>
        <p:nvSpPr>
          <p:cNvPr id="19" name="tarjeta_22"/>
          <p:cNvSpPr/>
          <p:nvPr/>
        </p:nvSpPr>
        <p:spPr>
          <a:xfrm>
            <a:off x="731520" y="4572000"/>
            <a:ext cx="5212080" cy="123444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circulo_23"/>
          <p:cNvSpPr/>
          <p:nvPr/>
        </p:nvSpPr>
        <p:spPr>
          <a:xfrm>
            <a:off x="1005840" y="4873752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icono_24"/>
          <p:cNvSpPr txBox="1"/>
          <p:nvPr/>
        </p:nvSpPr>
        <p:spPr>
          <a:xfrm>
            <a:off x="1005840" y="4873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o_25"/>
          <p:cNvSpPr txBox="1"/>
          <p:nvPr/>
        </p:nvSpPr>
        <p:spPr>
          <a:xfrm>
            <a:off x="1874520" y="4892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Los 4 clientes en acción</a:t>
            </a:r>
            <a:endParaRPr lang="en-US" sz="2000" dirty="0"/>
          </a:p>
        </p:txBody>
      </p:sp>
      <p:sp>
        <p:nvSpPr>
          <p:cNvPr id="23" name="tarjeta_26"/>
          <p:cNvSpPr/>
          <p:nvPr/>
        </p:nvSpPr>
        <p:spPr>
          <a:xfrm>
            <a:off x="6309360" y="4572000"/>
            <a:ext cx="5212080" cy="123444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circulo_27"/>
          <p:cNvSpPr/>
          <p:nvPr/>
        </p:nvSpPr>
        <p:spPr>
          <a:xfrm>
            <a:off x="6583680" y="4873752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icono_28"/>
          <p:cNvSpPr txBox="1"/>
          <p:nvPr/>
        </p:nvSpPr>
        <p:spPr>
          <a:xfrm>
            <a:off x="6583680" y="4873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o_29"/>
          <p:cNvSpPr txBox="1"/>
          <p:nvPr/>
        </p:nvSpPr>
        <p:spPr>
          <a:xfrm>
            <a:off x="7452360" y="4892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Pruebas, diagramas y conclusiones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Un banco, una lógica, cuatro clientes</a:t>
            </a:r>
            <a:endParaRPr lang="en-US" sz="3200" dirty="0"/>
          </a:p>
        </p:txBody>
      </p:sp>
      <p:sp>
        <p:nvSpPr>
          <p:cNvPr id="3" name="tarjeta_30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3061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o_31"/>
          <p:cNvSpPr txBox="1"/>
          <p:nvPr/>
        </p:nvSpPr>
        <p:spPr>
          <a:xfrm>
            <a:off x="86868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Problema</a:t>
            </a:r>
            <a:endParaRPr lang="en-US" sz="2200" dirty="0"/>
          </a:p>
        </p:txBody>
      </p:sp>
      <p:sp>
        <p:nvSpPr>
          <p:cNvPr id="5" name="texto_32"/>
          <p:cNvSpPr txBox="1"/>
          <p:nvPr/>
        </p:nvSpPr>
        <p:spPr>
          <a:xfrm>
            <a:off x="868680" y="21945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Cada ventanilla (app) calculaba y guardaba saldos por su cuenta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Dos operaciones a la vez podían dejar el saldo inconsistente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Sin control de quién registró cada movimiento</a:t>
            </a:r>
            <a:endParaRPr lang="en-US" sz="1700" dirty="0"/>
          </a:p>
        </p:txBody>
      </p:sp>
      <p:sp>
        <p:nvSpPr>
          <p:cNvPr id="6" name="tarjeta_33"/>
          <p:cNvSpPr/>
          <p:nvPr/>
        </p:nvSpPr>
        <p:spPr>
          <a:xfrm>
            <a:off x="6263640" y="1371600"/>
            <a:ext cx="5394960" cy="4480560"/>
          </a:xfrm>
          <a:prstGeom prst="roundRect">
            <a:avLst>
              <a:gd name="adj" fmla="val 3061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o_34"/>
          <p:cNvSpPr txBox="1"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Solución SOA + REST + MariaDB</a:t>
            </a:r>
            <a:endParaRPr lang="en-US" sz="2200" dirty="0"/>
          </a:p>
        </p:txBody>
      </p:sp>
      <p:sp>
        <p:nvSpPr>
          <p:cNvPr id="8" name="texto_35"/>
          <p:cNvSpPr txBox="1"/>
          <p:nvPr/>
        </p:nvSpPr>
        <p:spPr>
          <a:xfrm>
            <a:off x="6583680" y="21945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Reglas del banco solo en el servidor (Payara)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Datos en una única base eurekabank (USD)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Transacciones con bloqueo: el dinero siempre cuadra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Login contra la BD: cada movimiento lleva el empleado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Arquitectura en tres capas</a:t>
            </a:r>
            <a:endParaRPr lang="en-US" sz="3200" dirty="0"/>
          </a:p>
        </p:txBody>
      </p:sp>
      <p:sp>
        <p:nvSpPr>
          <p:cNvPr id="3" name="tarjeta_36"/>
          <p:cNvSpPr/>
          <p:nvPr/>
        </p:nvSpPr>
        <p:spPr>
          <a:xfrm>
            <a:off x="566928" y="1252728"/>
            <a:ext cx="11027664" cy="3255264"/>
          </a:xfrm>
          <a:prstGeom prst="roundRect">
            <a:avLst>
              <a:gd name="adj" fmla="val 4213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n_37" descr="18_arquitectu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25880"/>
            <a:ext cx="10881360" cy="3108960"/>
          </a:xfrm>
          <a:prstGeom prst="rect">
            <a:avLst/>
          </a:prstGeom>
        </p:spPr>
      </p:pic>
      <p:sp>
        <p:nvSpPr>
          <p:cNvPr id="5" name="tarjeta_38"/>
          <p:cNvSpPr/>
          <p:nvPr/>
        </p:nvSpPr>
        <p:spPr>
          <a:xfrm>
            <a:off x="640080" y="4846320"/>
            <a:ext cx="2606040" cy="1188720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o_39"/>
          <p:cNvSpPr txBox="1"/>
          <p:nvPr/>
        </p:nvSpPr>
        <p:spPr>
          <a:xfrm>
            <a:off x="822960" y="4983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controlador</a:t>
            </a:r>
            <a:endParaRPr lang="en-US" sz="1800" dirty="0"/>
          </a:p>
        </p:txBody>
      </p:sp>
      <p:sp>
        <p:nvSpPr>
          <p:cNvPr id="7" name="texto_40"/>
          <p:cNvSpPr txBox="1"/>
          <p:nvPr/>
        </p:nvSpPr>
        <p:spPr>
          <a:xfrm>
            <a:off x="822960" y="5394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Recursos JAX-RS /api</a:t>
            </a:r>
            <a:endParaRPr lang="en-US" sz="1400" dirty="0"/>
          </a:p>
        </p:txBody>
      </p:sp>
      <p:sp>
        <p:nvSpPr>
          <p:cNvPr id="8" name="tarjeta_41"/>
          <p:cNvSpPr/>
          <p:nvPr/>
        </p:nvSpPr>
        <p:spPr>
          <a:xfrm>
            <a:off x="3401568" y="4846320"/>
            <a:ext cx="2606040" cy="1188720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o_42"/>
          <p:cNvSpPr txBox="1"/>
          <p:nvPr/>
        </p:nvSpPr>
        <p:spPr>
          <a:xfrm>
            <a:off x="3584448" y="4983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servicio</a:t>
            </a:r>
            <a:endParaRPr lang="en-US" sz="1800" dirty="0"/>
          </a:p>
        </p:txBody>
      </p:sp>
      <p:sp>
        <p:nvSpPr>
          <p:cNvPr id="10" name="texto_43"/>
          <p:cNvSpPr txBox="1"/>
          <p:nvPr/>
        </p:nvSpPr>
        <p:spPr>
          <a:xfrm>
            <a:off x="3584448" y="5394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Reglas y transacciones</a:t>
            </a:r>
            <a:endParaRPr lang="en-US" sz="1400" dirty="0"/>
          </a:p>
        </p:txBody>
      </p:sp>
      <p:sp>
        <p:nvSpPr>
          <p:cNvPr id="11" name="tarjeta_44"/>
          <p:cNvSpPr/>
          <p:nvPr/>
        </p:nvSpPr>
        <p:spPr>
          <a:xfrm>
            <a:off x="6163056" y="4846320"/>
            <a:ext cx="2606040" cy="1188720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o_45"/>
          <p:cNvSpPr txBox="1"/>
          <p:nvPr/>
        </p:nvSpPr>
        <p:spPr>
          <a:xfrm>
            <a:off x="6345936" y="4983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dao</a:t>
            </a:r>
            <a:endParaRPr lang="en-US" sz="1800" dirty="0"/>
          </a:p>
        </p:txBody>
      </p:sp>
      <p:sp>
        <p:nvSpPr>
          <p:cNvPr id="13" name="texto_46"/>
          <p:cNvSpPr txBox="1"/>
          <p:nvPr/>
        </p:nvSpPr>
        <p:spPr>
          <a:xfrm>
            <a:off x="6345936" y="5394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SQL en español</a:t>
            </a:r>
            <a:endParaRPr lang="en-US" sz="1400" dirty="0"/>
          </a:p>
        </p:txBody>
      </p:sp>
      <p:sp>
        <p:nvSpPr>
          <p:cNvPr id="14" name="tarjeta_47"/>
          <p:cNvSpPr/>
          <p:nvPr/>
        </p:nvSpPr>
        <p:spPr>
          <a:xfrm>
            <a:off x="8924544" y="4846320"/>
            <a:ext cx="2606040" cy="1188720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o_48"/>
          <p:cNvSpPr txBox="1"/>
          <p:nvPr/>
        </p:nvSpPr>
        <p:spPr>
          <a:xfrm>
            <a:off x="9107424" y="4983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db</a:t>
            </a:r>
            <a:endParaRPr lang="en-US" sz="1800" dirty="0"/>
          </a:p>
        </p:txBody>
      </p:sp>
      <p:sp>
        <p:nvSpPr>
          <p:cNvPr id="16" name="texto_49"/>
          <p:cNvSpPr txBox="1"/>
          <p:nvPr/>
        </p:nvSpPr>
        <p:spPr>
          <a:xfrm>
            <a:off x="9107424" y="5394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ConexionBD Singleton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Base de datos eurekabank (MariaDB :3307)</a:t>
            </a:r>
            <a:endParaRPr lang="en-US" sz="3200" dirty="0"/>
          </a:p>
        </p:txBody>
      </p:sp>
      <p:sp>
        <p:nvSpPr>
          <p:cNvPr id="3" name="tarjeta_50"/>
          <p:cNvSpPr/>
          <p:nvPr/>
        </p:nvSpPr>
        <p:spPr>
          <a:xfrm>
            <a:off x="566928" y="1252728"/>
            <a:ext cx="11027664" cy="3163824"/>
          </a:xfrm>
          <a:prstGeom prst="roundRect">
            <a:avLst>
              <a:gd name="adj" fmla="val 4335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n_51" descr="19_mer_fisi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25880"/>
            <a:ext cx="10881360" cy="3017520"/>
          </a:xfrm>
          <a:prstGeom prst="rect">
            <a:avLst/>
          </a:prstGeom>
        </p:spPr>
      </p:pic>
      <p:sp>
        <p:nvSpPr>
          <p:cNvPr id="5" name="tarjeta_52"/>
          <p:cNvSpPr/>
          <p:nvPr/>
        </p:nvSpPr>
        <p:spPr>
          <a:xfrm>
            <a:off x="640080" y="4754880"/>
            <a:ext cx="2606040" cy="1325880"/>
          </a:xfrm>
          <a:prstGeom prst="roundRect">
            <a:avLst>
              <a:gd name="adj" fmla="val 10345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o_53"/>
          <p:cNvSpPr txBox="1"/>
          <p:nvPr/>
        </p:nvSpPr>
        <p:spPr>
          <a:xfrm>
            <a:off x="822960" y="4846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17</a:t>
            </a:r>
            <a:endParaRPr lang="en-US" sz="3000" dirty="0"/>
          </a:p>
        </p:txBody>
      </p:sp>
      <p:sp>
        <p:nvSpPr>
          <p:cNvPr id="7" name="texto_54"/>
          <p:cNvSpPr txBox="1"/>
          <p:nvPr/>
        </p:nvSpPr>
        <p:spPr>
          <a:xfrm>
            <a:off x="822960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tablas · 16 FK con ALTER TABLE</a:t>
            </a:r>
            <a:endParaRPr lang="en-US" sz="1300" dirty="0"/>
          </a:p>
        </p:txBody>
      </p:sp>
      <p:sp>
        <p:nvSpPr>
          <p:cNvPr id="8" name="tarjeta_55"/>
          <p:cNvSpPr/>
          <p:nvPr/>
        </p:nvSpPr>
        <p:spPr>
          <a:xfrm>
            <a:off x="3401568" y="4754880"/>
            <a:ext cx="2606040" cy="1325880"/>
          </a:xfrm>
          <a:prstGeom prst="roundRect">
            <a:avLst>
              <a:gd name="adj" fmla="val 10345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o_56"/>
          <p:cNvSpPr txBox="1"/>
          <p:nvPr/>
        </p:nvSpPr>
        <p:spPr>
          <a:xfrm>
            <a:off x="3584448" y="4846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USD</a:t>
            </a:r>
            <a:endParaRPr lang="en-US" sz="3000" dirty="0"/>
          </a:p>
        </p:txBody>
      </p:sp>
      <p:sp>
        <p:nvSpPr>
          <p:cNvPr id="10" name="texto_57"/>
          <p:cNvSpPr txBox="1"/>
          <p:nvPr/>
        </p:nvSpPr>
        <p:spPr>
          <a:xfrm>
            <a:off x="3584448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moneda única: dólares</a:t>
            </a:r>
            <a:endParaRPr lang="en-US" sz="1300" dirty="0"/>
          </a:p>
        </p:txBody>
      </p:sp>
      <p:sp>
        <p:nvSpPr>
          <p:cNvPr id="11" name="tarjeta_58"/>
          <p:cNvSpPr/>
          <p:nvPr/>
        </p:nvSpPr>
        <p:spPr>
          <a:xfrm>
            <a:off x="6163056" y="4754880"/>
            <a:ext cx="2606040" cy="1325880"/>
          </a:xfrm>
          <a:prstGeom prst="roundRect">
            <a:avLst>
              <a:gd name="adj" fmla="val 10345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o_59"/>
          <p:cNvSpPr txBox="1"/>
          <p:nvPr/>
        </p:nvSpPr>
        <p:spPr>
          <a:xfrm>
            <a:off x="6345936" y="4846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10</a:t>
            </a:r>
            <a:endParaRPr lang="en-US" sz="3000" dirty="0"/>
          </a:p>
        </p:txBody>
      </p:sp>
      <p:sp>
        <p:nvSpPr>
          <p:cNvPr id="13" name="texto_60"/>
          <p:cNvSpPr txBox="1"/>
          <p:nvPr/>
        </p:nvSpPr>
        <p:spPr>
          <a:xfrm>
            <a:off x="6345936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dígitos de cédula EC (módulo 10)</a:t>
            </a:r>
            <a:endParaRPr lang="en-US" sz="1300" dirty="0"/>
          </a:p>
        </p:txBody>
      </p:sp>
      <p:sp>
        <p:nvSpPr>
          <p:cNvPr id="14" name="tarjeta_61"/>
          <p:cNvSpPr/>
          <p:nvPr/>
        </p:nvSpPr>
        <p:spPr>
          <a:xfrm>
            <a:off x="8924544" y="4754880"/>
            <a:ext cx="2606040" cy="1325880"/>
          </a:xfrm>
          <a:prstGeom prst="roundRect">
            <a:avLst>
              <a:gd name="adj" fmla="val 10345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o_62"/>
          <p:cNvSpPr txBox="1"/>
          <p:nvPr/>
        </p:nvSpPr>
        <p:spPr>
          <a:xfrm>
            <a:off x="9107424" y="4846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SHA-1</a:t>
            </a:r>
            <a:endParaRPr lang="en-US" sz="3000" dirty="0"/>
          </a:p>
        </p:txBody>
      </p:sp>
      <p:sp>
        <p:nvSpPr>
          <p:cNvPr id="16" name="texto_63"/>
          <p:cNvSpPr txBox="1"/>
          <p:nvPr/>
        </p:nvSpPr>
        <p:spPr>
          <a:xfrm>
            <a:off x="9107424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clave de usuario en la tabla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Conexión Singleton y DAO (ec.edu.monster.db)</a:t>
            </a:r>
            <a:endParaRPr lang="en-US" sz="3200" dirty="0"/>
          </a:p>
        </p:txBody>
      </p:sp>
      <p:sp>
        <p:nvSpPr>
          <p:cNvPr id="3" name="tarjeta_64"/>
          <p:cNvSpPr/>
          <p:nvPr/>
        </p:nvSpPr>
        <p:spPr>
          <a:xfrm>
            <a:off x="640080" y="1371600"/>
            <a:ext cx="5669280" cy="4754880"/>
          </a:xfrm>
          <a:prstGeom prst="roundRect">
            <a:avLst>
              <a:gd name="adj" fmla="val 2885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o_65"/>
          <p:cNvSpPr txBox="1"/>
          <p:nvPr/>
        </p:nvSpPr>
        <p:spPr>
          <a:xfrm>
            <a:off x="914400" y="1554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ConexionBD</a:t>
            </a:r>
            <a:endParaRPr lang="en-US" sz="2000" dirty="0"/>
          </a:p>
        </p:txBody>
      </p:sp>
      <p:sp>
        <p:nvSpPr>
          <p:cNvPr id="5" name="codigo_singleton"/>
          <p:cNvSpPr txBox="1"/>
          <p:nvPr/>
        </p:nvSpPr>
        <p:spPr>
          <a:xfrm>
            <a:off x="914400" y="2057400"/>
            <a:ext cx="5120640" cy="32918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volatile ConexionBD instancia;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ConexionBD() { lee db.properties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ConexionBD getInstancia()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(instancia == null)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synchronized (ConexionBD.class)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(instancia == null)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instancia = new ConexionBD();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instancia;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Connection getConexion()</a:t>
            </a:r>
            <a:endParaRPr lang="en-US" sz="1200" dirty="0"/>
          </a:p>
        </p:txBody>
      </p:sp>
      <p:sp>
        <p:nvSpPr>
          <p:cNvPr id="6" name="texto_66"/>
          <p:cNvSpPr txBox="1"/>
          <p:nvPr/>
        </p:nvSpPr>
        <p:spPr>
          <a:xfrm>
            <a:off x="914400" y="5486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Cada DAO cierra su conexión con try-with-resources</a:t>
            </a:r>
            <a:endParaRPr lang="en-US" sz="1300" dirty="0"/>
          </a:p>
        </p:txBody>
      </p:sp>
      <p:sp>
        <p:nvSpPr>
          <p:cNvPr id="7" name="tarjeta_67"/>
          <p:cNvSpPr/>
          <p:nvPr/>
        </p:nvSpPr>
        <p:spPr>
          <a:xfrm>
            <a:off x="6675120" y="1371600"/>
            <a:ext cx="4937760" cy="1051560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o_68"/>
          <p:cNvSpPr txBox="1"/>
          <p:nvPr/>
        </p:nvSpPr>
        <p:spPr>
          <a:xfrm>
            <a:off x="6903720" y="1490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ClienteDAO</a:t>
            </a:r>
            <a:endParaRPr lang="en-US" sz="1800" dirty="0"/>
          </a:p>
        </p:txBody>
      </p:sp>
      <p:sp>
        <p:nvSpPr>
          <p:cNvPr id="9" name="texto_69"/>
          <p:cNvSpPr txBox="1"/>
          <p:nvPr/>
        </p:nvSpPr>
        <p:spPr>
          <a:xfrm>
            <a:off x="690372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insertar · seleccionar · listar · actualizar · eliminar</a:t>
            </a:r>
            <a:endParaRPr lang="en-US" sz="1300" dirty="0"/>
          </a:p>
        </p:txBody>
      </p:sp>
      <p:sp>
        <p:nvSpPr>
          <p:cNvPr id="10" name="tarjeta_70"/>
          <p:cNvSpPr/>
          <p:nvPr/>
        </p:nvSpPr>
        <p:spPr>
          <a:xfrm>
            <a:off x="6675120" y="2587752"/>
            <a:ext cx="4937760" cy="1051560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o_71"/>
          <p:cNvSpPr txBox="1"/>
          <p:nvPr/>
        </p:nvSpPr>
        <p:spPr>
          <a:xfrm>
            <a:off x="6903720" y="2706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CuentaDAO</a:t>
            </a:r>
            <a:endParaRPr lang="en-US" sz="1800" dirty="0"/>
          </a:p>
        </p:txBody>
      </p:sp>
      <p:sp>
        <p:nvSpPr>
          <p:cNvPr id="12" name="texto_72"/>
          <p:cNvSpPr txBox="1"/>
          <p:nvPr/>
        </p:nvSpPr>
        <p:spPr>
          <a:xfrm>
            <a:off x="6903720" y="3090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listar · seleccionar (FOR UPDATE) · actualizarSaldo</a:t>
            </a:r>
            <a:endParaRPr lang="en-US" sz="1300" dirty="0"/>
          </a:p>
        </p:txBody>
      </p:sp>
      <p:sp>
        <p:nvSpPr>
          <p:cNvPr id="13" name="tarjeta_73"/>
          <p:cNvSpPr/>
          <p:nvPr/>
        </p:nvSpPr>
        <p:spPr>
          <a:xfrm>
            <a:off x="6675120" y="3803904"/>
            <a:ext cx="4937760" cy="1051560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o_74"/>
          <p:cNvSpPr txBox="1"/>
          <p:nvPr/>
        </p:nvSpPr>
        <p:spPr>
          <a:xfrm>
            <a:off x="6903720" y="39227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MovimientoDAO</a:t>
            </a:r>
            <a:endParaRPr lang="en-US" sz="1800" dirty="0"/>
          </a:p>
        </p:txBody>
      </p:sp>
      <p:sp>
        <p:nvSpPr>
          <p:cNvPr id="15" name="texto_75"/>
          <p:cNvSpPr txBox="1"/>
          <p:nvPr/>
        </p:nvSpPr>
        <p:spPr>
          <a:xfrm>
            <a:off x="6903720" y="43068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listar · insertar</a:t>
            </a:r>
            <a:endParaRPr lang="en-US" sz="1300" dirty="0"/>
          </a:p>
        </p:txBody>
      </p:sp>
      <p:sp>
        <p:nvSpPr>
          <p:cNvPr id="16" name="tarjeta_76"/>
          <p:cNvSpPr/>
          <p:nvPr/>
        </p:nvSpPr>
        <p:spPr>
          <a:xfrm>
            <a:off x="6675120" y="5020056"/>
            <a:ext cx="4937760" cy="1051560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o_77"/>
          <p:cNvSpPr txBox="1"/>
          <p:nvPr/>
        </p:nvSpPr>
        <p:spPr>
          <a:xfrm>
            <a:off x="6903720" y="5138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PruebasConexion</a:t>
            </a:r>
            <a:endParaRPr lang="en-US" sz="1800" dirty="0"/>
          </a:p>
        </p:txBody>
      </p:sp>
      <p:sp>
        <p:nvSpPr>
          <p:cNvPr id="18" name="texto_78"/>
          <p:cNvSpPr txBox="1"/>
          <p:nvPr/>
        </p:nvSpPr>
        <p:spPr>
          <a:xfrm>
            <a:off x="6903720" y="55229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CRUD de prueba y cierre en finally → 13 OK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Endpoints de la API /api</a:t>
            </a:r>
            <a:endParaRPr lang="en-US" sz="3200" dirty="0"/>
          </a:p>
        </p:txBody>
      </p:sp>
      <p:graphicFrame>
        <p:nvGraphicFramePr>
          <p:cNvPr id="8" name="tabla_endpoi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480560"/>
                <a:gridCol w="5120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Método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Ruta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Descripción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/auth/login · /auth/logout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Sesión con usuario de la BD (token 30 min)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/cuentas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Cuentas con titular, moneda y saldo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/cuentas  ·  GET /cuentas/catalogos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Abrir cuenta (número automático) · monedas y sucursales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/cuentas/{cuenta}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Saldo de una cuenta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/cuentas/{cuenta}/movimientos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Estado de cuenta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/operaciones/deposito · /retiro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{cuenta, importe}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/operaciones/transferencia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{cuenta, cuentaDestino, importe}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/clientes  ·  /clientes/{codigo}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Listar / buscar / seleccionar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/clientes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Insertar (código con tabla contador)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PUT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/clientes/{codigo}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Actualizar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DELETE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/clientes/{codigo}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Eliminar (si no tiene cuentas)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/estado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Servidor y MariaDB para el panel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9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Operaciones transaccionales</a:t>
            </a:r>
            <a:endParaRPr lang="en-US" sz="3200" dirty="0"/>
          </a:p>
        </p:txBody>
      </p:sp>
      <p:sp>
        <p:nvSpPr>
          <p:cNvPr id="3" name="tarjeta_79"/>
          <p:cNvSpPr/>
          <p:nvPr/>
        </p:nvSpPr>
        <p:spPr>
          <a:xfrm>
            <a:off x="640080" y="1325880"/>
            <a:ext cx="6400800" cy="8229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circulo_80"/>
          <p:cNvSpPr/>
          <p:nvPr/>
        </p:nvSpPr>
        <p:spPr>
          <a:xfrm>
            <a:off x="841248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cono_81"/>
          <p:cNvSpPr txBox="1"/>
          <p:nvPr/>
        </p:nvSpPr>
        <p:spPr>
          <a:xfrm>
            <a:off x="84124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o_82"/>
          <p:cNvSpPr txBox="1"/>
          <p:nvPr/>
        </p:nvSpPr>
        <p:spPr>
          <a:xfrm>
            <a:off x="160020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Validar</a:t>
            </a:r>
            <a:endParaRPr lang="en-US" sz="1700" dirty="0"/>
          </a:p>
        </p:txBody>
      </p:sp>
      <p:sp>
        <p:nvSpPr>
          <p:cNvPr id="7" name="texto_83"/>
          <p:cNvSpPr txBox="1"/>
          <p:nvPr/>
        </p:nvSpPr>
        <p:spPr>
          <a:xfrm>
            <a:off x="1600200" y="175564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Token, cuenta de 8 dígitos e importe (&gt; 0, 2 decimales, ≤ 100 000)</a:t>
            </a:r>
            <a:endParaRPr lang="en-US" sz="1250" dirty="0"/>
          </a:p>
        </p:txBody>
      </p:sp>
      <p:sp>
        <p:nvSpPr>
          <p:cNvPr id="8" name="tarjeta_84"/>
          <p:cNvSpPr/>
          <p:nvPr/>
        </p:nvSpPr>
        <p:spPr>
          <a:xfrm>
            <a:off x="640080" y="2286000"/>
            <a:ext cx="6400800" cy="8229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circulo_85"/>
          <p:cNvSpPr/>
          <p:nvPr/>
        </p:nvSpPr>
        <p:spPr>
          <a:xfrm>
            <a:off x="841248" y="24231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icono_86"/>
          <p:cNvSpPr txBox="1"/>
          <p:nvPr/>
        </p:nvSpPr>
        <p:spPr>
          <a:xfrm>
            <a:off x="841248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o_87"/>
          <p:cNvSpPr txBox="1"/>
          <p:nvPr/>
        </p:nvSpPr>
        <p:spPr>
          <a:xfrm>
            <a:off x="1600200" y="2377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Bloquear</a:t>
            </a:r>
            <a:endParaRPr lang="en-US" sz="1700" dirty="0"/>
          </a:p>
        </p:txBody>
      </p:sp>
      <p:sp>
        <p:nvSpPr>
          <p:cNvPr id="12" name="texto_88"/>
          <p:cNvSpPr txBox="1"/>
          <p:nvPr/>
        </p:nvSpPr>
        <p:spPr>
          <a:xfrm>
            <a:off x="1600200" y="27157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SELECT … FOR UPDATE · en transferencias, menor código primero</a:t>
            </a:r>
            <a:endParaRPr lang="en-US" sz="1250" dirty="0"/>
          </a:p>
        </p:txBody>
      </p:sp>
      <p:sp>
        <p:nvSpPr>
          <p:cNvPr id="13" name="tarjeta_89"/>
          <p:cNvSpPr/>
          <p:nvPr/>
        </p:nvSpPr>
        <p:spPr>
          <a:xfrm>
            <a:off x="640080" y="3246120"/>
            <a:ext cx="6400800" cy="8229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circulo_90"/>
          <p:cNvSpPr/>
          <p:nvPr/>
        </p:nvSpPr>
        <p:spPr>
          <a:xfrm>
            <a:off x="841248" y="33832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icono_91"/>
          <p:cNvSpPr txBox="1"/>
          <p:nvPr/>
        </p:nvSpPr>
        <p:spPr>
          <a:xfrm>
            <a:off x="841248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o_92"/>
          <p:cNvSpPr txBox="1"/>
          <p:nvPr/>
        </p:nvSpPr>
        <p:spPr>
          <a:xfrm>
            <a:off x="1600200" y="3337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Reglas</a:t>
            </a:r>
            <a:endParaRPr lang="en-US" sz="1700" dirty="0"/>
          </a:p>
        </p:txBody>
      </p:sp>
      <p:sp>
        <p:nvSpPr>
          <p:cNvPr id="17" name="texto_93"/>
          <p:cNvSpPr txBox="1"/>
          <p:nvPr/>
        </p:nvSpPr>
        <p:spPr>
          <a:xfrm>
            <a:off x="1600200" y="36758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Cuenta ACTIVA · misma moneda · saldo suficiente</a:t>
            </a:r>
            <a:endParaRPr lang="en-US" sz="1250" dirty="0"/>
          </a:p>
        </p:txBody>
      </p:sp>
      <p:sp>
        <p:nvSpPr>
          <p:cNvPr id="18" name="tarjeta_94"/>
          <p:cNvSpPr/>
          <p:nvPr/>
        </p:nvSpPr>
        <p:spPr>
          <a:xfrm>
            <a:off x="640080" y="4206240"/>
            <a:ext cx="6400800" cy="8229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circulo_95"/>
          <p:cNvSpPr/>
          <p:nvPr/>
        </p:nvSpPr>
        <p:spPr>
          <a:xfrm>
            <a:off x="841248" y="43434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icono_96"/>
          <p:cNvSpPr txBox="1"/>
          <p:nvPr/>
        </p:nvSpPr>
        <p:spPr>
          <a:xfrm>
            <a:off x="841248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o_97"/>
          <p:cNvSpPr txBox="1"/>
          <p:nvPr/>
        </p:nvSpPr>
        <p:spPr>
          <a:xfrm>
            <a:off x="160020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Registrar</a:t>
            </a:r>
            <a:endParaRPr lang="en-US" sz="1700" dirty="0"/>
          </a:p>
        </p:txBody>
      </p:sp>
      <p:sp>
        <p:nvSpPr>
          <p:cNvPr id="22" name="texto_98"/>
          <p:cNvSpPr txBox="1"/>
          <p:nvPr/>
        </p:nvSpPr>
        <p:spPr>
          <a:xfrm>
            <a:off x="1600200" y="46360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UPDATE cuenta + INSERT movimiento (003 · 004 · 009/008) con el empleado</a:t>
            </a:r>
            <a:endParaRPr lang="en-US" sz="1250" dirty="0"/>
          </a:p>
        </p:txBody>
      </p:sp>
      <p:sp>
        <p:nvSpPr>
          <p:cNvPr id="23" name="tarjeta_99"/>
          <p:cNvSpPr/>
          <p:nvPr/>
        </p:nvSpPr>
        <p:spPr>
          <a:xfrm>
            <a:off x="640080" y="5166360"/>
            <a:ext cx="6400800" cy="8229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circulo_100"/>
          <p:cNvSpPr/>
          <p:nvPr/>
        </p:nvSpPr>
        <p:spPr>
          <a:xfrm>
            <a:off x="841248" y="53035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icono_101"/>
          <p:cNvSpPr txBox="1"/>
          <p:nvPr/>
        </p:nvSpPr>
        <p:spPr>
          <a:xfrm>
            <a:off x="841248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o_102"/>
          <p:cNvSpPr txBox="1"/>
          <p:nvPr/>
        </p:nvSpPr>
        <p:spPr>
          <a:xfrm>
            <a:off x="1600200" y="5257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Confirmar</a:t>
            </a:r>
            <a:endParaRPr lang="en-US" sz="1700" dirty="0"/>
          </a:p>
        </p:txBody>
      </p:sp>
      <p:sp>
        <p:nvSpPr>
          <p:cNvPr id="27" name="texto_103"/>
          <p:cNvSpPr txBox="1"/>
          <p:nvPr/>
        </p:nvSpPr>
        <p:spPr>
          <a:xfrm>
            <a:off x="1600200" y="55961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commit · ante cualquier error rollback</a:t>
            </a:r>
            <a:endParaRPr lang="en-US" sz="1250" dirty="0"/>
          </a:p>
        </p:txBody>
      </p:sp>
      <p:sp>
        <p:nvSpPr>
          <p:cNvPr id="28" name="tarjeta_104"/>
          <p:cNvSpPr/>
          <p:nvPr/>
        </p:nvSpPr>
        <p:spPr>
          <a:xfrm>
            <a:off x="7406640" y="1325880"/>
            <a:ext cx="4206240" cy="4663440"/>
          </a:xfrm>
          <a:prstGeom prst="roundRect">
            <a:avLst>
              <a:gd name="adj" fmla="val 3261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o_105"/>
          <p:cNvSpPr txBox="1"/>
          <p:nvPr/>
        </p:nvSpPr>
        <p:spPr>
          <a:xfrm>
            <a:off x="768096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Prueba de estrés</a:t>
            </a:r>
            <a:endParaRPr lang="en-US" sz="2000" dirty="0"/>
          </a:p>
        </p:txBody>
      </p:sp>
      <p:sp>
        <p:nvSpPr>
          <p:cNvPr id="30" name="texto_106"/>
          <p:cNvSpPr txBox="1"/>
          <p:nvPr/>
        </p:nvSpPr>
        <p:spPr>
          <a:xfrm>
            <a:off x="7680960" y="2103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5"/>
                </a:solidFill>
              </a:rPr>
              <a:t>40</a:t>
            </a:r>
            <a:endParaRPr lang="en-US" sz="6600" dirty="0"/>
          </a:p>
        </p:txBody>
      </p:sp>
      <p:sp>
        <p:nvSpPr>
          <p:cNvPr id="31" name="texto_107"/>
          <p:cNvSpPr txBox="1"/>
          <p:nvPr/>
        </p:nvSpPr>
        <p:spPr>
          <a:xfrm>
            <a:off x="7680960" y="3154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transferencias simultáneas en sentidos opuestos</a:t>
            </a:r>
            <a:endParaRPr lang="en-US" sz="1500" dirty="0"/>
          </a:p>
        </p:txBody>
      </p:sp>
      <p:sp>
        <p:nvSpPr>
          <p:cNvPr id="32" name="texto_108"/>
          <p:cNvSpPr txBox="1"/>
          <p:nvPr/>
        </p:nvSpPr>
        <p:spPr>
          <a:xfrm>
            <a:off x="7680960" y="4023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0 errores · 0 interbloqueos · la suma de saldos quedó exacta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Panel de monitoreo en tiempo real</a:t>
            </a:r>
            <a:endParaRPr lang="en-US" sz="3200" dirty="0"/>
          </a:p>
        </p:txBody>
      </p:sp>
      <p:sp>
        <p:nvSpPr>
          <p:cNvPr id="3" name="tarjeta_109"/>
          <p:cNvSpPr/>
          <p:nvPr/>
        </p:nvSpPr>
        <p:spPr>
          <a:xfrm>
            <a:off x="612648" y="1298448"/>
            <a:ext cx="5998464" cy="4901184"/>
          </a:xfrm>
          <a:prstGeom prst="roundRect">
            <a:avLst>
              <a:gd name="adj" fmla="val 2799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n_110" descr="ev_pa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5852160" cy="4754880"/>
          </a:xfrm>
          <a:prstGeom prst="rect">
            <a:avLst/>
          </a:prstGeom>
        </p:spPr>
      </p:pic>
      <p:sp>
        <p:nvSpPr>
          <p:cNvPr id="5" name="tarjeta_111"/>
          <p:cNvSpPr/>
          <p:nvPr/>
        </p:nvSpPr>
        <p:spPr>
          <a:xfrm>
            <a:off x="6903720" y="1417320"/>
            <a:ext cx="4709160" cy="1005840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o_112"/>
          <p:cNvSpPr txBox="1"/>
          <p:nvPr/>
        </p:nvSpPr>
        <p:spPr>
          <a:xfrm>
            <a:off x="7132320" y="1536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Servicio y MariaDB</a:t>
            </a:r>
            <a:endParaRPr lang="en-US" sz="1800" dirty="0"/>
          </a:p>
        </p:txBody>
      </p:sp>
      <p:sp>
        <p:nvSpPr>
          <p:cNvPr id="7" name="texto_113"/>
          <p:cNvSpPr txBox="1"/>
          <p:nvPr/>
        </p:nvSpPr>
        <p:spPr>
          <a:xfrm>
            <a:off x="7132320" y="1920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Indicadores verde / rojo del servidor y de la base</a:t>
            </a:r>
            <a:endParaRPr lang="en-US" sz="1300" dirty="0"/>
          </a:p>
        </p:txBody>
      </p:sp>
      <p:sp>
        <p:nvSpPr>
          <p:cNvPr id="8" name="tarjeta_114"/>
          <p:cNvSpPr/>
          <p:nvPr/>
        </p:nvSpPr>
        <p:spPr>
          <a:xfrm>
            <a:off x="6903720" y="2606040"/>
            <a:ext cx="4709160" cy="1005840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o_115"/>
          <p:cNvSpPr txBox="1"/>
          <p:nvPr/>
        </p:nvSpPr>
        <p:spPr>
          <a:xfrm>
            <a:off x="7132320" y="27249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Peticiones en vivo</a:t>
            </a:r>
            <a:endParaRPr lang="en-US" sz="1800" dirty="0"/>
          </a:p>
        </p:txBody>
      </p:sp>
      <p:sp>
        <p:nvSpPr>
          <p:cNvPr id="10" name="texto_116"/>
          <p:cNvSpPr txBox="1"/>
          <p:nvPr/>
        </p:nvSpPr>
        <p:spPr>
          <a:xfrm>
            <a:off x="7132320" y="3108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Cada llamada con la etiqueta del cliente que la hizo</a:t>
            </a:r>
            <a:endParaRPr lang="en-US" sz="1300" dirty="0"/>
          </a:p>
        </p:txBody>
      </p:sp>
      <p:sp>
        <p:nvSpPr>
          <p:cNvPr id="11" name="tarjeta_117"/>
          <p:cNvSpPr/>
          <p:nvPr/>
        </p:nvSpPr>
        <p:spPr>
          <a:xfrm>
            <a:off x="6903720" y="3794760"/>
            <a:ext cx="4709160" cy="1005840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o_118"/>
          <p:cNvSpPr txBox="1"/>
          <p:nvPr/>
        </p:nvSpPr>
        <p:spPr>
          <a:xfrm>
            <a:off x="7132320" y="3913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Operaciones por tipo</a:t>
            </a:r>
            <a:endParaRPr lang="en-US" sz="1800" dirty="0"/>
          </a:p>
        </p:txBody>
      </p:sp>
      <p:sp>
        <p:nvSpPr>
          <p:cNvPr id="13" name="texto_119"/>
          <p:cNvSpPr txBox="1"/>
          <p:nvPr/>
        </p:nvSpPr>
        <p:spPr>
          <a:xfrm>
            <a:off x="7132320" y="4297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Barras de depósitos, retiros y transferencias</a:t>
            </a:r>
            <a:endParaRPr lang="en-US" sz="1300" dirty="0"/>
          </a:p>
        </p:txBody>
      </p:sp>
      <p:sp>
        <p:nvSpPr>
          <p:cNvPr id="14" name="tarjeta_120"/>
          <p:cNvSpPr/>
          <p:nvPr/>
        </p:nvSpPr>
        <p:spPr>
          <a:xfrm>
            <a:off x="6903720" y="4983480"/>
            <a:ext cx="4709160" cy="1005840"/>
          </a:xfrm>
          <a:prstGeom prst="roundRect">
            <a:avLst>
              <a:gd name="adj" fmla="val 13636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o_121"/>
          <p:cNvSpPr txBox="1"/>
          <p:nvPr/>
        </p:nvSpPr>
        <p:spPr>
          <a:xfrm>
            <a:off x="7132320" y="5102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Prueba rápida</a:t>
            </a:r>
            <a:endParaRPr lang="en-US" sz="1800" dirty="0"/>
          </a:p>
        </p:txBody>
      </p:sp>
      <p:sp>
        <p:nvSpPr>
          <p:cNvPr id="16" name="texto_122"/>
          <p:cNvSpPr txBox="1"/>
          <p:nvPr/>
        </p:nvSpPr>
        <p:spPr>
          <a:xfrm>
            <a:off x="7132320" y="5486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Saldo y movimientos de una cuenta desde el panel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Cliente de consola</a:t>
            </a:r>
            <a:endParaRPr lang="en-US" sz="3200" dirty="0"/>
          </a:p>
        </p:txBody>
      </p:sp>
      <p:sp>
        <p:nvSpPr>
          <p:cNvPr id="3" name="tarjeta_123"/>
          <p:cNvSpPr/>
          <p:nvPr/>
        </p:nvSpPr>
        <p:spPr>
          <a:xfrm>
            <a:off x="612648" y="1298448"/>
            <a:ext cx="7095744" cy="4901184"/>
          </a:xfrm>
          <a:prstGeom prst="roundRect">
            <a:avLst>
              <a:gd name="adj" fmla="val 2799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n_124" descr="ev_consol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6949440" cy="4754880"/>
          </a:xfrm>
          <a:prstGeom prst="rect">
            <a:avLst/>
          </a:prstGeom>
        </p:spPr>
      </p:pic>
      <p:sp>
        <p:nvSpPr>
          <p:cNvPr id="5" name="tarjeta_125"/>
          <p:cNvSpPr/>
          <p:nvPr/>
        </p:nvSpPr>
        <p:spPr>
          <a:xfrm>
            <a:off x="8001000" y="1371600"/>
            <a:ext cx="3611880" cy="4754880"/>
          </a:xfrm>
          <a:prstGeom prst="roundRect">
            <a:avLst>
              <a:gd name="adj" fmla="val 3797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o_126"/>
          <p:cNvSpPr txBox="1"/>
          <p:nvPr/>
        </p:nvSpPr>
        <p:spPr>
          <a:xfrm>
            <a:off x="8229600" y="1600200"/>
            <a:ext cx="3200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5"/>
                </a:solidFill>
              </a:rPr>
              <a:t>Banner EUREKABANK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Menú: cuentas, saldo, movimientos, depósito, retiro, transferencia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Completa los ceros de la cuenta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Confirma antes de operar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Comprobante con nuevo saldo animado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Cliente de escritorio (Swing)</a:t>
            </a:r>
            <a:endParaRPr lang="en-US" sz="3200" dirty="0"/>
          </a:p>
        </p:txBody>
      </p:sp>
      <p:sp>
        <p:nvSpPr>
          <p:cNvPr id="3" name="tarjeta_127"/>
          <p:cNvSpPr/>
          <p:nvPr/>
        </p:nvSpPr>
        <p:spPr>
          <a:xfrm>
            <a:off x="612648" y="1298448"/>
            <a:ext cx="5495544" cy="3392424"/>
          </a:xfrm>
          <a:prstGeom prst="roundRect">
            <a:avLst>
              <a:gd name="adj" fmla="val 4043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n_128" descr="ev_esc_clien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5349240" cy="3246120"/>
          </a:xfrm>
          <a:prstGeom prst="rect">
            <a:avLst/>
          </a:prstGeom>
        </p:spPr>
      </p:pic>
      <p:sp>
        <p:nvSpPr>
          <p:cNvPr id="5" name="tarjeta_129"/>
          <p:cNvSpPr/>
          <p:nvPr/>
        </p:nvSpPr>
        <p:spPr>
          <a:xfrm>
            <a:off x="6190488" y="1298448"/>
            <a:ext cx="5495544" cy="3392424"/>
          </a:xfrm>
          <a:prstGeom prst="roundRect">
            <a:avLst>
              <a:gd name="adj" fmla="val 4043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n_130" descr="ev_esc_movimiento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371600"/>
            <a:ext cx="5349240" cy="3246120"/>
          </a:xfrm>
          <a:prstGeom prst="rect">
            <a:avLst/>
          </a:prstGeom>
        </p:spPr>
      </p:pic>
      <p:sp>
        <p:nvSpPr>
          <p:cNvPr id="7" name="texto_131"/>
          <p:cNvSpPr txBox="1"/>
          <p:nvPr/>
        </p:nvSpPr>
        <p:spPr>
          <a:xfrm>
            <a:off x="685800" y="48920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Clientes: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CRUD con cédula ecuatoriana y botón para abrir una cuenta al cliente</a:t>
            </a:r>
            <a:endParaRPr lang="en-US" sz="1500" dirty="0"/>
          </a:p>
        </p:txBody>
      </p:sp>
      <p:sp>
        <p:nvSpPr>
          <p:cNvPr id="8" name="texto_132"/>
          <p:cNvSpPr txBox="1"/>
          <p:nvPr/>
        </p:nvSpPr>
        <p:spPr>
          <a:xfrm>
            <a:off x="6263640" y="48920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Movimientos: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la cuenta nueva con su movimiento 001 – Apertura de Cuenta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Cliente web (Servlets + JSP) y CRUD de clientes</a:t>
            </a:r>
            <a:endParaRPr lang="en-US" sz="3200" dirty="0"/>
          </a:p>
        </p:txBody>
      </p:sp>
      <p:sp>
        <p:nvSpPr>
          <p:cNvPr id="3" name="tarjeta_133"/>
          <p:cNvSpPr/>
          <p:nvPr/>
        </p:nvSpPr>
        <p:spPr>
          <a:xfrm>
            <a:off x="612648" y="1298448"/>
            <a:ext cx="5495544" cy="3392424"/>
          </a:xfrm>
          <a:prstGeom prst="roundRect">
            <a:avLst>
              <a:gd name="adj" fmla="val 4043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n_134" descr="ev_web_operac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5349240" cy="3246120"/>
          </a:xfrm>
          <a:prstGeom prst="rect">
            <a:avLst/>
          </a:prstGeom>
        </p:spPr>
      </p:pic>
      <p:sp>
        <p:nvSpPr>
          <p:cNvPr id="5" name="tarjeta_135"/>
          <p:cNvSpPr/>
          <p:nvPr/>
        </p:nvSpPr>
        <p:spPr>
          <a:xfrm>
            <a:off x="6190488" y="1298448"/>
            <a:ext cx="5495544" cy="3392424"/>
          </a:xfrm>
          <a:prstGeom prst="roundRect">
            <a:avLst>
              <a:gd name="adj" fmla="val 4043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n_136" descr="ev_web_client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371600"/>
            <a:ext cx="5349240" cy="3246120"/>
          </a:xfrm>
          <a:prstGeom prst="rect">
            <a:avLst/>
          </a:prstGeom>
        </p:spPr>
      </p:pic>
      <p:sp>
        <p:nvSpPr>
          <p:cNvPr id="7" name="texto_137"/>
          <p:cNvSpPr txBox="1"/>
          <p:nvPr/>
        </p:nvSpPr>
        <p:spPr>
          <a:xfrm>
            <a:off x="685800" y="48920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Web: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Servlets = controlador · JSP = vista · ServicioRest = modelo</a:t>
            </a:r>
            <a:endParaRPr lang="en-US" sz="1500" dirty="0"/>
          </a:p>
        </p:txBody>
      </p:sp>
      <p:sp>
        <p:nvSpPr>
          <p:cNvPr id="8" name="texto_138"/>
          <p:cNvSpPr txBox="1"/>
          <p:nvPr/>
        </p:nvSpPr>
        <p:spPr>
          <a:xfrm>
            <a:off x="6263640" y="48920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Clientes: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insertar, seleccionar, listar, actualizar, eliminar y abrir cuentas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Cliente móvil Android (Samsung S22 Ultra)</a:t>
            </a:r>
            <a:endParaRPr lang="en-US" sz="3200" dirty="0"/>
          </a:p>
        </p:txBody>
      </p:sp>
      <p:sp>
        <p:nvSpPr>
          <p:cNvPr id="3" name="tarjeta_139"/>
          <p:cNvSpPr/>
          <p:nvPr/>
        </p:nvSpPr>
        <p:spPr>
          <a:xfrm>
            <a:off x="612648" y="1298448"/>
            <a:ext cx="7370064" cy="4946904"/>
          </a:xfrm>
          <a:prstGeom prst="roundRect">
            <a:avLst>
              <a:gd name="adj" fmla="val 2773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n_140" descr="ev_andro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7223760" cy="4800600"/>
          </a:xfrm>
          <a:prstGeom prst="rect">
            <a:avLst/>
          </a:prstGeom>
        </p:spPr>
      </p:pic>
      <p:sp>
        <p:nvSpPr>
          <p:cNvPr id="5" name="tarjeta_141"/>
          <p:cNvSpPr/>
          <p:nvPr/>
        </p:nvSpPr>
        <p:spPr>
          <a:xfrm>
            <a:off x="8275320" y="1371600"/>
            <a:ext cx="3337560" cy="4800600"/>
          </a:xfrm>
          <a:prstGeom prst="roundRect">
            <a:avLst>
              <a:gd name="adj" fmla="val 4110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o_142"/>
          <p:cNvSpPr txBox="1"/>
          <p:nvPr/>
        </p:nvSpPr>
        <p:spPr>
          <a:xfrm>
            <a:off x="8503920" y="1600200"/>
            <a:ext cx="2926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App nativa en Java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Saldos totales y tarjetas de cuentas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Estado de cuenta con movimientos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Depósito, retiro y transferencia con comprobante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URL configurable: el panel muestra la IP de la red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Wi-Fi o USB con adb reverse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Pruebas y resultados</a:t>
            </a:r>
            <a:endParaRPr lang="en-US" sz="3200" dirty="0"/>
          </a:p>
        </p:txBody>
      </p:sp>
      <p:sp>
        <p:nvSpPr>
          <p:cNvPr id="3" name="tarjeta_143"/>
          <p:cNvSpPr/>
          <p:nvPr/>
        </p:nvSpPr>
        <p:spPr>
          <a:xfrm>
            <a:off x="640080" y="1371600"/>
            <a:ext cx="2606040" cy="1737360"/>
          </a:xfrm>
          <a:prstGeom prst="roundRect">
            <a:avLst>
              <a:gd name="adj" fmla="val 7895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o_144"/>
          <p:cNvSpPr txBox="1"/>
          <p:nvPr/>
        </p:nvSpPr>
        <p:spPr>
          <a:xfrm>
            <a:off x="822960" y="1463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13/13</a:t>
            </a:r>
            <a:endParaRPr lang="en-US" sz="4800" dirty="0"/>
          </a:p>
        </p:txBody>
      </p:sp>
      <p:sp>
        <p:nvSpPr>
          <p:cNvPr id="5" name="texto_145"/>
          <p:cNvSpPr txBox="1"/>
          <p:nvPr/>
        </p:nvSpPr>
        <p:spPr>
          <a:xfrm>
            <a:off x="822960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verificaciones de PruebasConexion</a:t>
            </a:r>
            <a:endParaRPr lang="en-US" sz="1300" dirty="0"/>
          </a:p>
        </p:txBody>
      </p:sp>
      <p:sp>
        <p:nvSpPr>
          <p:cNvPr id="6" name="tarjeta_146"/>
          <p:cNvSpPr/>
          <p:nvPr/>
        </p:nvSpPr>
        <p:spPr>
          <a:xfrm>
            <a:off x="3401568" y="1371600"/>
            <a:ext cx="2606040" cy="1737360"/>
          </a:xfrm>
          <a:prstGeom prst="roundRect">
            <a:avLst>
              <a:gd name="adj" fmla="val 7895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o_147"/>
          <p:cNvSpPr txBox="1"/>
          <p:nvPr/>
        </p:nvSpPr>
        <p:spPr>
          <a:xfrm>
            <a:off x="3584448" y="1463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</a:t>
            </a:r>
            <a:endParaRPr lang="en-US" sz="4800" dirty="0"/>
          </a:p>
        </p:txBody>
      </p:sp>
      <p:sp>
        <p:nvSpPr>
          <p:cNvPr id="8" name="texto_148"/>
          <p:cNvSpPr txBox="1"/>
          <p:nvPr/>
        </p:nvSpPr>
        <p:spPr>
          <a:xfrm>
            <a:off x="3584448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clientes funcionando</a:t>
            </a:r>
            <a:endParaRPr lang="en-US" sz="1300" dirty="0"/>
          </a:p>
        </p:txBody>
      </p:sp>
      <p:sp>
        <p:nvSpPr>
          <p:cNvPr id="9" name="tarjeta_149"/>
          <p:cNvSpPr/>
          <p:nvPr/>
        </p:nvSpPr>
        <p:spPr>
          <a:xfrm>
            <a:off x="6163056" y="1371600"/>
            <a:ext cx="2606040" cy="1737360"/>
          </a:xfrm>
          <a:prstGeom prst="roundRect">
            <a:avLst>
              <a:gd name="adj" fmla="val 7895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o_150"/>
          <p:cNvSpPr txBox="1"/>
          <p:nvPr/>
        </p:nvSpPr>
        <p:spPr>
          <a:xfrm>
            <a:off x="6345936" y="1463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16</a:t>
            </a:r>
            <a:endParaRPr lang="en-US" sz="4800" dirty="0"/>
          </a:p>
        </p:txBody>
      </p:sp>
      <p:sp>
        <p:nvSpPr>
          <p:cNvPr id="11" name="texto_151"/>
          <p:cNvSpPr txBox="1"/>
          <p:nvPr/>
        </p:nvSpPr>
        <p:spPr>
          <a:xfrm>
            <a:off x="6345936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endpoints REST</a:t>
            </a:r>
            <a:endParaRPr lang="en-US" sz="1300" dirty="0"/>
          </a:p>
        </p:txBody>
      </p:sp>
      <p:sp>
        <p:nvSpPr>
          <p:cNvPr id="12" name="tarjeta_152"/>
          <p:cNvSpPr/>
          <p:nvPr/>
        </p:nvSpPr>
        <p:spPr>
          <a:xfrm>
            <a:off x="8924544" y="1371600"/>
            <a:ext cx="2606040" cy="1737360"/>
          </a:xfrm>
          <a:prstGeom prst="roundRect">
            <a:avLst>
              <a:gd name="adj" fmla="val 7895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o_153"/>
          <p:cNvSpPr txBox="1"/>
          <p:nvPr/>
        </p:nvSpPr>
        <p:spPr>
          <a:xfrm>
            <a:off x="9107424" y="1463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40</a:t>
            </a:r>
            <a:endParaRPr lang="en-US" sz="4800" dirty="0"/>
          </a:p>
        </p:txBody>
      </p:sp>
      <p:sp>
        <p:nvSpPr>
          <p:cNvPr id="14" name="texto_154"/>
          <p:cNvSpPr txBox="1"/>
          <p:nvPr/>
        </p:nvSpPr>
        <p:spPr>
          <a:xfrm>
            <a:off x="9107424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transferencias simultáneas sin error</a:t>
            </a:r>
            <a:endParaRPr lang="en-US" sz="1300" dirty="0"/>
          </a:p>
        </p:txBody>
      </p:sp>
      <p:sp>
        <p:nvSpPr>
          <p:cNvPr id="15" name="tarjeta_155"/>
          <p:cNvSpPr/>
          <p:nvPr/>
        </p:nvSpPr>
        <p:spPr>
          <a:xfrm>
            <a:off x="612648" y="3447288"/>
            <a:ext cx="10981944" cy="2798064"/>
          </a:xfrm>
          <a:prstGeom prst="roundRect">
            <a:avLst>
              <a:gd name="adj" fmla="val 4902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n_156" descr="ev_prueb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3520440"/>
            <a:ext cx="10835640" cy="2651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Modelado UML</a:t>
            </a:r>
            <a:endParaRPr lang="en-US" sz="3200" dirty="0"/>
          </a:p>
        </p:txBody>
      </p:sp>
      <p:sp>
        <p:nvSpPr>
          <p:cNvPr id="3" name="tarjeta_157"/>
          <p:cNvSpPr/>
          <p:nvPr/>
        </p:nvSpPr>
        <p:spPr>
          <a:xfrm>
            <a:off x="612648" y="1298448"/>
            <a:ext cx="4078224" cy="4901184"/>
          </a:xfrm>
          <a:prstGeom prst="roundRect">
            <a:avLst>
              <a:gd name="adj" fmla="val 3363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n_158" descr="01_casos_de_us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71600"/>
            <a:ext cx="3931920" cy="4754880"/>
          </a:xfrm>
          <a:prstGeom prst="rect">
            <a:avLst/>
          </a:prstGeom>
        </p:spPr>
      </p:pic>
      <p:sp>
        <p:nvSpPr>
          <p:cNvPr id="5" name="tarjeta_159"/>
          <p:cNvSpPr/>
          <p:nvPr/>
        </p:nvSpPr>
        <p:spPr>
          <a:xfrm>
            <a:off x="4910328" y="1298448"/>
            <a:ext cx="6684264" cy="4901184"/>
          </a:xfrm>
          <a:prstGeom prst="roundRect">
            <a:avLst>
              <a:gd name="adj" fmla="val 2799"/>
            </a:avLst>
          </a:prstGeom>
          <a:solidFill>
            <a:srgbClr val="1A2B4B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n_160" descr="17_clas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83480" y="1371600"/>
            <a:ext cx="6537960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Conclusiones</a:t>
            </a:r>
            <a:endParaRPr lang="en-US" sz="3200" dirty="0"/>
          </a:p>
        </p:txBody>
      </p:sp>
      <p:sp>
        <p:nvSpPr>
          <p:cNvPr id="3" name="tarjeta_161"/>
          <p:cNvSpPr/>
          <p:nvPr/>
        </p:nvSpPr>
        <p:spPr>
          <a:xfrm>
            <a:off x="640080" y="1463040"/>
            <a:ext cx="5303520" cy="201168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circulo_162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cono_163"/>
          <p:cNvSpPr txBox="1"/>
          <p:nvPr/>
        </p:nvSpPr>
        <p:spPr>
          <a:xfrm>
            <a:off x="9144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o_164"/>
          <p:cNvSpPr txBox="1"/>
          <p:nvPr/>
        </p:nvSpPr>
        <p:spPr>
          <a:xfrm>
            <a:off x="178308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Reutilización</a:t>
            </a:r>
            <a:endParaRPr lang="en-US" sz="2200" dirty="0"/>
          </a:p>
        </p:txBody>
      </p:sp>
      <p:sp>
        <p:nvSpPr>
          <p:cNvPr id="7" name="texto_165"/>
          <p:cNvSpPr txBox="1"/>
          <p:nvPr/>
        </p:nvSpPr>
        <p:spPr>
          <a:xfrm>
            <a:off x="1783080" y="2331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Cuatro tecnologías comparten las mismas reglas y los mismos datos del banco.</a:t>
            </a:r>
            <a:endParaRPr lang="en-US" sz="1500" dirty="0"/>
          </a:p>
        </p:txBody>
      </p:sp>
      <p:sp>
        <p:nvSpPr>
          <p:cNvPr id="8" name="tarjeta_166"/>
          <p:cNvSpPr/>
          <p:nvPr/>
        </p:nvSpPr>
        <p:spPr>
          <a:xfrm>
            <a:off x="6217920" y="1463040"/>
            <a:ext cx="5303520" cy="201168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circulo_167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icono_168"/>
          <p:cNvSpPr txBox="1"/>
          <p:nvPr/>
        </p:nvSpPr>
        <p:spPr>
          <a:xfrm>
            <a:off x="6492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o_169"/>
          <p:cNvSpPr txBox="1"/>
          <p:nvPr/>
        </p:nvSpPr>
        <p:spPr>
          <a:xfrm>
            <a:off x="736092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Integridad</a:t>
            </a:r>
            <a:endParaRPr lang="en-US" sz="2200" dirty="0"/>
          </a:p>
        </p:txBody>
      </p:sp>
      <p:sp>
        <p:nvSpPr>
          <p:cNvPr id="12" name="texto_170"/>
          <p:cNvSpPr txBox="1"/>
          <p:nvPr/>
        </p:nvSpPr>
        <p:spPr>
          <a:xfrm>
            <a:off x="7360920" y="2331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Transacciones con bloqueo de filas: el dinero cuadra aun con operaciones simultáneas.</a:t>
            </a:r>
            <a:endParaRPr lang="en-US" sz="1500" dirty="0"/>
          </a:p>
        </p:txBody>
      </p:sp>
      <p:sp>
        <p:nvSpPr>
          <p:cNvPr id="13" name="tarjeta_171"/>
          <p:cNvSpPr/>
          <p:nvPr/>
        </p:nvSpPr>
        <p:spPr>
          <a:xfrm>
            <a:off x="640080" y="3749040"/>
            <a:ext cx="5303520" cy="201168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circulo_172"/>
          <p:cNvSpPr/>
          <p:nvPr/>
        </p:nvSpPr>
        <p:spPr>
          <a:xfrm>
            <a:off x="914400" y="40690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icono_173"/>
          <p:cNvSpPr txBox="1"/>
          <p:nvPr/>
        </p:nvSpPr>
        <p:spPr>
          <a:xfrm>
            <a:off x="91440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o_174"/>
          <p:cNvSpPr txBox="1"/>
          <p:nvPr/>
        </p:nvSpPr>
        <p:spPr>
          <a:xfrm>
            <a:off x="178308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Mantenibilidad</a:t>
            </a:r>
            <a:endParaRPr lang="en-US" sz="2200" dirty="0"/>
          </a:p>
        </p:txBody>
      </p:sp>
      <p:sp>
        <p:nvSpPr>
          <p:cNvPr id="17" name="texto_175"/>
          <p:cNvSpPr txBox="1"/>
          <p:nvPr/>
        </p:nvSpPr>
        <p:spPr>
          <a:xfrm>
            <a:off x="1783080" y="4617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Singleton + DAO: la conexión se configura en un solo archivo (db.properties).</a:t>
            </a:r>
            <a:endParaRPr lang="en-US" sz="1500" dirty="0"/>
          </a:p>
        </p:txBody>
      </p:sp>
      <p:sp>
        <p:nvSpPr>
          <p:cNvPr id="18" name="tarjeta_176"/>
          <p:cNvSpPr/>
          <p:nvPr/>
        </p:nvSpPr>
        <p:spPr>
          <a:xfrm>
            <a:off x="6217920" y="3749040"/>
            <a:ext cx="5303520" cy="201168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 w="12700">
            <a:solidFill>
              <a:srgbClr val="24395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circulo_177"/>
          <p:cNvSpPr/>
          <p:nvPr/>
        </p:nvSpPr>
        <p:spPr>
          <a:xfrm>
            <a:off x="6492240" y="4069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icono_178"/>
          <p:cNvSpPr txBox="1"/>
          <p:nvPr/>
        </p:nvSpPr>
        <p:spPr>
          <a:xfrm>
            <a:off x="64922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o_179"/>
          <p:cNvSpPr txBox="1"/>
          <p:nvPr/>
        </p:nvSpPr>
        <p:spPr>
          <a:xfrm>
            <a:off x="736092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Trazabilidad</a:t>
            </a:r>
            <a:endParaRPr lang="en-US" sz="2200" dirty="0"/>
          </a:p>
        </p:txBody>
      </p:sp>
      <p:sp>
        <p:nvSpPr>
          <p:cNvPr id="22" name="texto_180"/>
          <p:cNvSpPr txBox="1"/>
          <p:nvPr/>
        </p:nvSpPr>
        <p:spPr>
          <a:xfrm>
            <a:off x="7360920" y="4617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Cada movimiento guarda el empleado y el panel muestra el uso por cliente.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jeta_181"/>
          <p:cNvSpPr/>
          <p:nvPr/>
        </p:nvSpPr>
        <p:spPr>
          <a:xfrm>
            <a:off x="4480560" y="640080"/>
            <a:ext cx="3200400" cy="3291840"/>
          </a:xfrm>
          <a:prstGeom prst="roundRect">
            <a:avLst>
              <a:gd name="adj" fmla="val 4286"/>
            </a:avLst>
          </a:prstGeom>
          <a:solidFill>
            <a:srgbClr val="1A2B4B"/>
          </a:solidFill>
          <a:ln w="381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" name="monster_cierre" descr="Monst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731520"/>
            <a:ext cx="3017520" cy="3108960"/>
          </a:xfrm>
          <a:prstGeom prst="rect">
            <a:avLst/>
          </a:prstGeom>
        </p:spPr>
      </p:pic>
      <p:sp>
        <p:nvSpPr>
          <p:cNvPr id="4" name="texto_182"/>
          <p:cNvSpPr txBox="1"/>
          <p:nvPr/>
        </p:nvSpPr>
        <p:spPr>
          <a:xfrm>
            <a:off x="1371600" y="416052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2"/>
                </a:solidFill>
              </a:rPr>
              <a:t>¡Gracias!</a:t>
            </a:r>
            <a:endParaRPr lang="en-US" sz="4800" dirty="0"/>
          </a:p>
        </p:txBody>
      </p:sp>
      <p:sp>
        <p:nvSpPr>
          <p:cNvPr id="5" name="texto_183"/>
          <p:cNvSpPr txBox="1"/>
          <p:nvPr/>
        </p:nvSpPr>
        <p:spPr>
          <a:xfrm>
            <a:off x="1371600" y="50749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Demostración en vivo: servidor · consola · escritorio · web · móvil</a:t>
            </a:r>
            <a:endParaRPr lang="en-US" sz="2000" dirty="0"/>
          </a:p>
        </p:txBody>
      </p:sp>
      <p:sp>
        <p:nvSpPr>
          <p:cNvPr id="6" name="texto_184"/>
          <p:cNvSpPr txBox="1"/>
          <p:nvPr/>
        </p:nvSpPr>
        <p:spPr>
          <a:xfrm>
            <a:off x="1371600" y="56235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Grupo 1 · NRC 36841 · usuario monster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ster EurekaBank">
  <a:themeElements>
    <a:clrScheme name="Monster EurekaBank">
      <a:dk1>
        <a:srgbClr val="0B1426"/>
      </a:dk1>
      <a:lt1>
        <a:srgbClr val="FFFFFF"/>
      </a:lt1>
      <a:dk2>
        <a:srgbClr val="13213B"/>
      </a:dk2>
      <a:lt2>
        <a:srgbClr val="E8EEFB"/>
      </a:lt2>
      <a:accent1>
        <a:srgbClr val="3D8BFD"/>
      </a:accent1>
      <a:accent2>
        <a:srgbClr val="2DD4BF"/>
      </a:accent2>
      <a:accent3>
        <a:srgbClr val="22C55E"/>
      </a:accent3>
      <a:accent4>
        <a:srgbClr val="F43F5E"/>
      </a:accent4>
      <a:accent5>
        <a:srgbClr val="F5B841"/>
      </a:accent5>
      <a:accent6>
        <a:srgbClr val="8FA3C7"/>
      </a:accent6>
      <a:hlink>
        <a:srgbClr val="2DD4BF"/>
      </a:hlink>
      <a:folHlink>
        <a:srgbClr val="8FA3C7"/>
      </a:folHlink>
    </a:clrScheme>
    <a:fontScheme name="Monster EurekaBan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ESPE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EurekaBank Monster - RESTful Java con BDD</dc:title>
  <dc:subject>PptxGenJS Presentation</dc:subject>
  <dc:creator>Grupo 1 - NRC 36841</dc:creator>
  <cp:lastModifiedBy>Grupo 1 - NRC 36841</cp:lastModifiedBy>
  <cp:revision>1</cp:revision>
  <dcterms:created xsi:type="dcterms:W3CDTF">2026-10-26T16:49:54Z</dcterms:created>
  <dcterms:modified xsi:type="dcterms:W3CDTF">2026-10-26T16:49:54Z</dcterms:modified>
</cp:coreProperties>
</file>